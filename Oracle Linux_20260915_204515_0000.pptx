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Anonymous Pro Bold" charset="1" panose="02060809030202000504"/>
      <p:regular r:id="rId33"/>
    </p:embeddedFont>
    <p:embeddedFont>
      <p:font typeface="Cousine" charset="1" panose="02070409020205020404"/>
      <p:regular r:id="rId34"/>
    </p:embeddedFont>
    <p:embeddedFont>
      <p:font typeface="Cousine Bold" charset="1" panose="020707090202050204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20.png" Type="http://schemas.openxmlformats.org/officeDocument/2006/relationships/image"/><Relationship Id="rId17" Target="../media/image21.svg" Type="http://schemas.openxmlformats.org/officeDocument/2006/relationships/image"/><Relationship Id="rId18" Target="../media/image10.png" Type="http://schemas.openxmlformats.org/officeDocument/2006/relationships/image"/><Relationship Id="rId19" Target="../media/image11.svg" Type="http://schemas.openxmlformats.org/officeDocument/2006/relationships/image"/><Relationship Id="rId2" Target="../media/image2.png" Type="http://schemas.openxmlformats.org/officeDocument/2006/relationships/image"/><Relationship Id="rId20" Target="../media/image22.png" Type="http://schemas.openxmlformats.org/officeDocument/2006/relationships/image"/><Relationship Id="rId21" Target="../media/image23.sv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10.png" Type="http://schemas.openxmlformats.org/officeDocument/2006/relationships/image"/><Relationship Id="rId15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10.png" Type="http://schemas.openxmlformats.org/officeDocument/2006/relationships/image"/><Relationship Id="rId17" Target="../media/image11.svg" Type="http://schemas.openxmlformats.org/officeDocument/2006/relationships/image"/><Relationship Id="rId18" Target="../media/image24.png" Type="http://schemas.openxmlformats.org/officeDocument/2006/relationships/image"/><Relationship Id="rId19" Target="../media/image25.svg" Type="http://schemas.openxmlformats.org/officeDocument/2006/relationships/image"/><Relationship Id="rId2" Target="../media/image2.png" Type="http://schemas.openxmlformats.org/officeDocument/2006/relationships/image"/><Relationship Id="rId20" Target="../media/image26.png" Type="http://schemas.openxmlformats.org/officeDocument/2006/relationships/image"/><Relationship Id="rId21" Target="../media/image27.sv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12.png" Type="http://schemas.openxmlformats.org/officeDocument/2006/relationships/image"/><Relationship Id="rId15" Target="../media/image13.svg" Type="http://schemas.openxmlformats.org/officeDocument/2006/relationships/image"/><Relationship Id="rId16" Target="../media/image10.png" Type="http://schemas.openxmlformats.org/officeDocument/2006/relationships/image"/><Relationship Id="rId17" Target="../media/image11.svg" Type="http://schemas.openxmlformats.org/officeDocument/2006/relationships/image"/><Relationship Id="rId18" Target="../media/image1.png" Type="http://schemas.openxmlformats.org/officeDocument/2006/relationships/image"/><Relationship Id="rId19" Target="../media/image28.png" Type="http://schemas.openxmlformats.org/officeDocument/2006/relationships/image"/><Relationship Id="rId2" Target="../media/image2.png" Type="http://schemas.openxmlformats.org/officeDocument/2006/relationships/image"/><Relationship Id="rId20" Target="../media/image29.sv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46.png" Type="http://schemas.openxmlformats.org/officeDocument/2006/relationships/image"/><Relationship Id="rId17" Target="../media/image47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50.png" Type="http://schemas.openxmlformats.org/officeDocument/2006/relationships/image"/><Relationship Id="rId15" Target="../media/image5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svg" Type="http://schemas.openxmlformats.org/officeDocument/2006/relationships/image"/><Relationship Id="rId12" Target="../media/image50.png" Type="http://schemas.openxmlformats.org/officeDocument/2006/relationships/image"/><Relationship Id="rId13" Target="../media/image5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48.png" Type="http://schemas.openxmlformats.org/officeDocument/2006/relationships/image"/><Relationship Id="rId12" Target="../media/image49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610724" y="6578610"/>
            <a:ext cx="4317671" cy="3492361"/>
          </a:xfrm>
          <a:custGeom>
            <a:avLst/>
            <a:gdLst/>
            <a:ahLst/>
            <a:cxnLst/>
            <a:rect r="r" b="b" t="t" l="l"/>
            <a:pathLst>
              <a:path h="3492361" w="4317671">
                <a:moveTo>
                  <a:pt x="0" y="0"/>
                </a:moveTo>
                <a:lnTo>
                  <a:pt x="4317671" y="0"/>
                </a:lnTo>
                <a:lnTo>
                  <a:pt x="4317671" y="3492361"/>
                </a:lnTo>
                <a:lnTo>
                  <a:pt x="0" y="3492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35508" y="9193555"/>
            <a:ext cx="1271608" cy="652980"/>
            <a:chOff x="0" y="0"/>
            <a:chExt cx="334909" cy="1719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215739" y="3752888"/>
            <a:ext cx="13856522" cy="3081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3"/>
              </a:lnSpc>
            </a:pPr>
            <a:r>
              <a:rPr lang="en-US" b="true" sz="19712" spc="-1734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ORACLE LINUX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227883" y="5926714"/>
            <a:ext cx="765682" cy="1303792"/>
          </a:xfrm>
          <a:custGeom>
            <a:avLst/>
            <a:gdLst/>
            <a:ahLst/>
            <a:cxnLst/>
            <a:rect r="r" b="b" t="t" l="l"/>
            <a:pathLst>
              <a:path h="1303792" w="765682">
                <a:moveTo>
                  <a:pt x="0" y="0"/>
                </a:moveTo>
                <a:lnTo>
                  <a:pt x="765682" y="0"/>
                </a:lnTo>
                <a:lnTo>
                  <a:pt x="765682" y="1303792"/>
                </a:lnTo>
                <a:lnTo>
                  <a:pt x="0" y="13037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082106" y="6834097"/>
            <a:ext cx="2123787" cy="586938"/>
          </a:xfrm>
          <a:custGeom>
            <a:avLst/>
            <a:gdLst/>
            <a:ahLst/>
            <a:cxnLst/>
            <a:rect r="r" b="b" t="t" l="l"/>
            <a:pathLst>
              <a:path h="586938" w="2123787">
                <a:moveTo>
                  <a:pt x="0" y="0"/>
                </a:moveTo>
                <a:lnTo>
                  <a:pt x="2123788" y="0"/>
                </a:lnTo>
                <a:lnTo>
                  <a:pt x="2123788" y="586938"/>
                </a:lnTo>
                <a:lnTo>
                  <a:pt x="0" y="5869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6352676" y="3606893"/>
            <a:ext cx="5582648" cy="52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8"/>
              </a:lnSpc>
            </a:pPr>
            <a:r>
              <a:rPr lang="en-US" sz="381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Intro</a:t>
            </a:r>
            <a:r>
              <a:rPr lang="en-US" sz="381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duction to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FIAP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55770" y="7812594"/>
            <a:ext cx="7947872" cy="24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2"/>
              </a:lnSpc>
            </a:pPr>
            <a:r>
              <a:rPr lang="en-US" sz="179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Pedro Herani, Enrico Lee, Nycollas Chagas, Victor Martins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310814" y="4102411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336807" y="6800504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092743" y="3762832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4" y="0"/>
                </a:lnTo>
                <a:lnTo>
                  <a:pt x="1048894" y="1018382"/>
                </a:lnTo>
                <a:lnTo>
                  <a:pt x="0" y="10183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442638" y="5310416"/>
            <a:ext cx="5534722" cy="90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SUMÁRIO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855916" y="4195823"/>
            <a:ext cx="7121270" cy="287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sz="25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UEK vs. RHCK</a:t>
            </a:r>
          </a:p>
          <a:p>
            <a:pPr algn="l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sz="25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Ksplice</a:t>
            </a:r>
          </a:p>
          <a:p>
            <a:pPr algn="l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sz="25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Licenciamento</a:t>
            </a:r>
          </a:p>
          <a:p>
            <a:pPr algn="l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sz="25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Guia de instalação</a:t>
            </a:r>
          </a:p>
          <a:p>
            <a:pPr algn="l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sz="25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Hardening de rede e firewall</a:t>
            </a:r>
          </a:p>
          <a:p>
            <a:pPr algn="l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sz="25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Scripts</a:t>
            </a:r>
          </a:p>
          <a:p>
            <a:pPr algn="l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sz="25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5 perguntas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FIAP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889550" y="9193555"/>
            <a:ext cx="1271608" cy="652980"/>
            <a:chOff x="0" y="0"/>
            <a:chExt cx="334909" cy="1719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280209" y="4198412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683415" y="6934002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5"/>
                </a:lnTo>
                <a:lnTo>
                  <a:pt x="0" y="10907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218137" y="3925395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5" y="0"/>
                </a:lnTo>
                <a:lnTo>
                  <a:pt x="1048895" y="1018381"/>
                </a:lnTo>
                <a:lnTo>
                  <a:pt x="0" y="10183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776342" y="5006270"/>
            <a:ext cx="4806104" cy="170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ORACLE</a:t>
            </a:r>
          </a:p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LINUX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41637" y="4059783"/>
            <a:ext cx="5393246" cy="3718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O Oracle Linux é distribuído pela Oracle Corporation desde 2006</a:t>
            </a:r>
          </a:p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 distribuição é oferecida para download gratuito</a:t>
            </a:r>
          </a:p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O suporte comercial com contratação opcional</a:t>
            </a:r>
          </a:p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Oracle Linux mantém compatibilidade binária com aplicações RHEL.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FIAP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073148" y="9193555"/>
            <a:ext cx="1271608" cy="652980"/>
            <a:chOff x="0" y="0"/>
            <a:chExt cx="334909" cy="1719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280209" y="4198412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683415" y="6934002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5"/>
                </a:lnTo>
                <a:lnTo>
                  <a:pt x="0" y="10907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218137" y="3925395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5" y="0"/>
                </a:lnTo>
                <a:lnTo>
                  <a:pt x="1048895" y="1018381"/>
                </a:lnTo>
                <a:lnTo>
                  <a:pt x="0" y="10183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776342" y="5006270"/>
            <a:ext cx="4806104" cy="170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UEK</a:t>
            </a: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 VS. RHCK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41637" y="4059783"/>
            <a:ext cx="5393246" cy="334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2 Tipos distintos de Kernel</a:t>
            </a:r>
          </a:p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UEK mais próximo do mainline</a:t>
            </a:r>
          </a:p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RHCK previsibilidade de comportamento idêntico ao RHEL</a:t>
            </a:r>
          </a:p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Kernel e hardening impactam cibersegurança.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FIAP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864585" y="9193555"/>
            <a:ext cx="1271608" cy="652980"/>
            <a:chOff x="0" y="0"/>
            <a:chExt cx="334909" cy="1719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362676" y="2985124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69" y="0"/>
                </a:lnTo>
                <a:lnTo>
                  <a:pt x="5798369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5538489" y="9193555"/>
            <a:ext cx="1271608" cy="652980"/>
            <a:chOff x="0" y="0"/>
            <a:chExt cx="334909" cy="1719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9650188" y="2985124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2" y="0"/>
                </a:lnTo>
                <a:lnTo>
                  <a:pt x="2986282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035172" y="2557416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19" y="0"/>
                </a:lnTo>
                <a:lnTo>
                  <a:pt x="1019519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042875" y="3846005"/>
            <a:ext cx="2200907" cy="1264521"/>
          </a:xfrm>
          <a:custGeom>
            <a:avLst/>
            <a:gdLst/>
            <a:ahLst/>
            <a:cxnLst/>
            <a:rect r="r" b="b" t="t" l="l"/>
            <a:pathLst>
              <a:path h="1264521" w="2200907">
                <a:moveTo>
                  <a:pt x="0" y="0"/>
                </a:moveTo>
                <a:lnTo>
                  <a:pt x="2200907" y="0"/>
                </a:lnTo>
                <a:lnTo>
                  <a:pt x="2200907" y="1264521"/>
                </a:lnTo>
                <a:lnTo>
                  <a:pt x="0" y="126452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013832" y="5356615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2" y="0"/>
                </a:lnTo>
                <a:lnTo>
                  <a:pt x="2986282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143329" y="5743944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736203" y="5870718"/>
            <a:ext cx="1541540" cy="1958076"/>
          </a:xfrm>
          <a:custGeom>
            <a:avLst/>
            <a:gdLst/>
            <a:ahLst/>
            <a:cxnLst/>
            <a:rect r="r" b="b" t="t" l="l"/>
            <a:pathLst>
              <a:path h="1958076" w="1541540">
                <a:moveTo>
                  <a:pt x="0" y="0"/>
                </a:moveTo>
                <a:lnTo>
                  <a:pt x="1541540" y="0"/>
                </a:lnTo>
                <a:lnTo>
                  <a:pt x="1541540" y="1958076"/>
                </a:lnTo>
                <a:lnTo>
                  <a:pt x="0" y="19580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630190" y="4261262"/>
            <a:ext cx="5263340" cy="7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KSPLICE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054691" y="6512224"/>
            <a:ext cx="7402449" cy="220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9333" indent="-214666" lvl="1">
              <a:lnSpc>
                <a:spcPts val="2485"/>
              </a:lnSpc>
              <a:buFont typeface="Arial"/>
              <a:buChar char="•"/>
            </a:pP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Atualização de kernel sem interrupção de serviço</a:t>
            </a:r>
          </a:p>
          <a:p>
            <a:pPr algn="l" marL="429333" indent="-214666" lvl="1">
              <a:lnSpc>
                <a:spcPts val="2485"/>
              </a:lnSpc>
              <a:buFont typeface="Arial"/>
              <a:buChar char="•"/>
            </a:pP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O Ksplice é tecnologia proprietária da Oracle</a:t>
            </a:r>
          </a:p>
          <a:p>
            <a:pPr algn="l" marL="429333" indent="-214666" lvl="1">
              <a:lnSpc>
                <a:spcPts val="2485"/>
              </a:lnSpc>
              <a:buFont typeface="Arial"/>
              <a:buChar char="•"/>
            </a:pP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Substituição, em memória, de trechos de código do kernel já carregado.</a:t>
            </a:r>
          </a:p>
          <a:p>
            <a:pPr algn="l" marL="429333" indent="-214666" lvl="1">
              <a:lnSpc>
                <a:spcPts val="2485"/>
              </a:lnSpc>
              <a:buFont typeface="Arial"/>
              <a:buChar char="•"/>
            </a:pP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Possui limitações de escopo</a:t>
            </a:r>
          </a:p>
          <a:p>
            <a:pPr algn="l">
              <a:lnSpc>
                <a:spcPts val="2485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FIAP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281656" y="2884599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69" y="0"/>
                </a:lnTo>
                <a:lnTo>
                  <a:pt x="5798369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136192" y="9193555"/>
            <a:ext cx="1271608" cy="652980"/>
            <a:chOff x="0" y="0"/>
            <a:chExt cx="334909" cy="1719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5447619" y="2667523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336417" y="5428186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549170" y="4162475"/>
            <a:ext cx="5263340" cy="7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KSPLICE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88114" y="3745924"/>
            <a:ext cx="7022147" cy="3782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9073" indent="-234537" lvl="1">
              <a:lnSpc>
                <a:spcPts val="2715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O acesso ao Ksplice para uso em ambiente on-premises</a:t>
            </a:r>
          </a:p>
          <a:p>
            <a:pPr algn="l" marL="469073" indent="-234537" lvl="1">
              <a:lnSpc>
                <a:spcPts val="2715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o Ksplice está disponível de forma nativa</a:t>
            </a:r>
          </a:p>
          <a:p>
            <a:pPr algn="l" marL="469073" indent="-234537" lvl="1">
              <a:lnSpc>
                <a:spcPts val="2715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Suporta tanto o UEK quanto o RHCK</a:t>
            </a:r>
          </a:p>
          <a:p>
            <a:pPr algn="l" marL="469073" indent="-234537" lvl="1">
              <a:lnSpc>
                <a:spcPts val="2715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Mudanças estruturais profundas em estruturas de dados </a:t>
            </a:r>
          </a:p>
          <a:p>
            <a:pPr algn="l" marL="469073" indent="-234537" lvl="1">
              <a:lnSpc>
                <a:spcPts val="2715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Kpatch é uma tecnologia de atualização dinâmica do kernel Linux</a:t>
            </a:r>
          </a:p>
          <a:p>
            <a:pPr algn="l" marL="469073" indent="-234537" lvl="1">
              <a:lnSpc>
                <a:spcPts val="2715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Red Hat oferece o kpatch como mecanismo equivalente de live patching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FIAP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703496" y="2761983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661786" y="9193555"/>
            <a:ext cx="1271608" cy="652980"/>
            <a:chOff x="0" y="0"/>
            <a:chExt cx="334909" cy="1719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407294" y="5067450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1" y="0"/>
                </a:lnTo>
                <a:lnTo>
                  <a:pt x="2986281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144000" y="2704190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787949" y="2761983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2" y="0"/>
                </a:lnTo>
                <a:lnTo>
                  <a:pt x="2986282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378911" y="5143500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548096" y="3694051"/>
            <a:ext cx="1465987" cy="1122147"/>
          </a:xfrm>
          <a:custGeom>
            <a:avLst/>
            <a:gdLst/>
            <a:ahLst/>
            <a:cxnLst/>
            <a:rect r="r" b="b" t="t" l="l"/>
            <a:pathLst>
              <a:path h="1122147" w="1465987">
                <a:moveTo>
                  <a:pt x="0" y="0"/>
                </a:moveTo>
                <a:lnTo>
                  <a:pt x="1465987" y="0"/>
                </a:lnTo>
                <a:lnTo>
                  <a:pt x="1465987" y="1122146"/>
                </a:lnTo>
                <a:lnTo>
                  <a:pt x="0" y="11221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161721" y="5782253"/>
            <a:ext cx="1477427" cy="1556676"/>
          </a:xfrm>
          <a:custGeom>
            <a:avLst/>
            <a:gdLst/>
            <a:ahLst/>
            <a:cxnLst/>
            <a:rect r="r" b="b" t="t" l="l"/>
            <a:pathLst>
              <a:path h="1556676" w="1477427">
                <a:moveTo>
                  <a:pt x="0" y="0"/>
                </a:moveTo>
                <a:lnTo>
                  <a:pt x="1477427" y="0"/>
                </a:lnTo>
                <a:lnTo>
                  <a:pt x="1477427" y="1556676"/>
                </a:lnTo>
                <a:lnTo>
                  <a:pt x="0" y="15566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971011" y="3988525"/>
            <a:ext cx="5263340" cy="7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LICENCIAMENTO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61786" y="6033054"/>
            <a:ext cx="7565866" cy="2968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8812" indent="-184406" lvl="1">
              <a:lnSpc>
                <a:spcPts val="2135"/>
              </a:lnSpc>
              <a:buFont typeface="Arial"/>
              <a:buChar char="•"/>
            </a:pPr>
            <a:r>
              <a:rPr lang="en-US" sz="170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Sistema operacional: pode ser baixado, usado e distribuído gratuitamente.</a:t>
            </a:r>
          </a:p>
          <a:p>
            <a:pPr algn="l" marL="368812" indent="-184406" lvl="1">
              <a:lnSpc>
                <a:spcPts val="2135"/>
              </a:lnSpc>
              <a:buFont typeface="Arial"/>
              <a:buChar char="•"/>
            </a:pPr>
            <a:r>
              <a:rPr lang="en-US" sz="170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Código-fonte: baseado em software de código aberto, principalmente o kernel Linux.</a:t>
            </a:r>
          </a:p>
          <a:p>
            <a:pPr algn="l" marL="368812" indent="-184406" lvl="1">
              <a:lnSpc>
                <a:spcPts val="2135"/>
              </a:lnSpc>
              <a:buFont typeface="Arial"/>
              <a:buChar char="•"/>
            </a:pPr>
            <a:r>
              <a:rPr lang="en-US" sz="170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Suporte Oracle: é pago e oferece suporte técnico, atualizações e recursos empresariais.</a:t>
            </a:r>
          </a:p>
          <a:p>
            <a:pPr algn="l" marL="368812" indent="-184406" lvl="1">
              <a:lnSpc>
                <a:spcPts val="2135"/>
              </a:lnSpc>
              <a:buFont typeface="Arial"/>
              <a:buChar char="•"/>
            </a:pPr>
            <a:r>
              <a:rPr lang="en-US" sz="170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Atualizações: podem ser obtidas gratuitamente, sem necessariamente contratar suporte.</a:t>
            </a:r>
          </a:p>
          <a:p>
            <a:pPr algn="l" marL="368812" indent="-184406" lvl="1">
              <a:lnSpc>
                <a:spcPts val="2135"/>
              </a:lnSpc>
              <a:buFont typeface="Arial"/>
              <a:buChar char="•"/>
            </a:pPr>
            <a:r>
              <a:rPr lang="en-US" sz="170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Recursos empresariais: algumas funcionalidades e serviços da Oracle dependem de uma assinatura de suporte.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FIAP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507224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800003" y="3743719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69" y="0"/>
                </a:lnTo>
                <a:lnTo>
                  <a:pt x="5798369" y="3088949"/>
                </a:lnTo>
                <a:lnTo>
                  <a:pt x="0" y="3088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839217" y="3417958"/>
            <a:ext cx="1166694" cy="1132754"/>
          </a:xfrm>
          <a:custGeom>
            <a:avLst/>
            <a:gdLst/>
            <a:ahLst/>
            <a:cxnLst/>
            <a:rect r="r" b="b" t="t" l="l"/>
            <a:pathLst>
              <a:path h="1132754" w="1166694">
                <a:moveTo>
                  <a:pt x="0" y="0"/>
                </a:moveTo>
                <a:lnTo>
                  <a:pt x="1166694" y="0"/>
                </a:lnTo>
                <a:lnTo>
                  <a:pt x="1166694" y="1132754"/>
                </a:lnTo>
                <a:lnTo>
                  <a:pt x="0" y="11327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784859" y="6832668"/>
            <a:ext cx="3608772" cy="997333"/>
          </a:xfrm>
          <a:custGeom>
            <a:avLst/>
            <a:gdLst/>
            <a:ahLst/>
            <a:cxnLst/>
            <a:rect r="r" b="b" t="t" l="l"/>
            <a:pathLst>
              <a:path h="997333" w="3608772">
                <a:moveTo>
                  <a:pt x="0" y="0"/>
                </a:moveTo>
                <a:lnTo>
                  <a:pt x="3608772" y="0"/>
                </a:lnTo>
                <a:lnTo>
                  <a:pt x="3608772" y="997334"/>
                </a:lnTo>
                <a:lnTo>
                  <a:pt x="0" y="9973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758764" y="7332050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5"/>
                </a:lnTo>
                <a:lnTo>
                  <a:pt x="0" y="10907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325432" y="4122290"/>
            <a:ext cx="4317671" cy="3492361"/>
          </a:xfrm>
          <a:custGeom>
            <a:avLst/>
            <a:gdLst/>
            <a:ahLst/>
            <a:cxnLst/>
            <a:rect r="r" b="b" t="t" l="l"/>
            <a:pathLst>
              <a:path h="3492361" w="4317671">
                <a:moveTo>
                  <a:pt x="0" y="0"/>
                </a:moveTo>
                <a:lnTo>
                  <a:pt x="4317671" y="0"/>
                </a:lnTo>
                <a:lnTo>
                  <a:pt x="4317671" y="3492362"/>
                </a:lnTo>
                <a:lnTo>
                  <a:pt x="0" y="349236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84087" y="7588661"/>
            <a:ext cx="1508601" cy="1604894"/>
          </a:xfrm>
          <a:custGeom>
            <a:avLst/>
            <a:gdLst/>
            <a:ahLst/>
            <a:cxnLst/>
            <a:rect r="r" b="b" t="t" l="l"/>
            <a:pathLst>
              <a:path h="1604894" w="1508601">
                <a:moveTo>
                  <a:pt x="0" y="0"/>
                </a:moveTo>
                <a:lnTo>
                  <a:pt x="1508601" y="0"/>
                </a:lnTo>
                <a:lnTo>
                  <a:pt x="1508601" y="1604894"/>
                </a:lnTo>
                <a:lnTo>
                  <a:pt x="0" y="160489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FIAP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713268" y="4775139"/>
            <a:ext cx="3971839" cy="109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b="true" sz="4751" spc="-16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ESTRUTURAÇÃO DO SISTEMA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123543" y="309729"/>
            <a:ext cx="12040913" cy="9667543"/>
            <a:chOff x="0" y="0"/>
            <a:chExt cx="7467600" cy="599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435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123543" y="309729"/>
            <a:ext cx="12040913" cy="9667543"/>
            <a:chOff x="0" y="0"/>
            <a:chExt cx="7467600" cy="599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62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123543" y="309729"/>
            <a:ext cx="12040913" cy="9667543"/>
            <a:chOff x="0" y="0"/>
            <a:chExt cx="7467600" cy="599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-6060" r="0" b="-18269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123543" y="309729"/>
            <a:ext cx="12040913" cy="9667543"/>
            <a:chOff x="0" y="0"/>
            <a:chExt cx="7467600" cy="599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-169" r="0" b="-169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123543" y="309729"/>
            <a:ext cx="12040913" cy="9667543"/>
            <a:chOff x="0" y="0"/>
            <a:chExt cx="7467600" cy="599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-5507" r="0" b="-5507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123543" y="309729"/>
            <a:ext cx="12040913" cy="9667543"/>
            <a:chOff x="0" y="0"/>
            <a:chExt cx="7467600" cy="599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-3294" r="0" b="-772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123543" y="309729"/>
            <a:ext cx="12040913" cy="9667543"/>
            <a:chOff x="0" y="0"/>
            <a:chExt cx="7467600" cy="599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-5507" r="0" b="-5507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123543" y="309729"/>
            <a:ext cx="12040913" cy="9667543"/>
            <a:chOff x="0" y="0"/>
            <a:chExt cx="7467600" cy="599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-5507" r="0" b="-5507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123543" y="309729"/>
            <a:ext cx="12040913" cy="9667543"/>
            <a:chOff x="0" y="0"/>
            <a:chExt cx="7467600" cy="599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-5507" r="0" b="-5507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123543" y="309729"/>
            <a:ext cx="12040913" cy="9667543"/>
            <a:chOff x="0" y="0"/>
            <a:chExt cx="7467600" cy="599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-5629" r="0" b="-5629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123543" y="309729"/>
            <a:ext cx="12040913" cy="9667543"/>
            <a:chOff x="0" y="0"/>
            <a:chExt cx="7467600" cy="599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-5507" r="0" b="-5507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123543" y="309729"/>
            <a:ext cx="12040913" cy="9667543"/>
            <a:chOff x="0" y="0"/>
            <a:chExt cx="7467600" cy="599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-5507" r="0" b="-5507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123543" y="309729"/>
            <a:ext cx="12040913" cy="9667543"/>
            <a:chOff x="0" y="0"/>
            <a:chExt cx="7467600" cy="599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-5507" r="0" b="-5507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123543" y="309729"/>
            <a:ext cx="12040913" cy="9667543"/>
            <a:chOff x="0" y="0"/>
            <a:chExt cx="7467600" cy="599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-5507" r="0" b="-5507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188831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508196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498170" y="3287771"/>
            <a:ext cx="7315200" cy="1582743"/>
          </a:xfrm>
          <a:custGeom>
            <a:avLst/>
            <a:gdLst/>
            <a:ahLst/>
            <a:cxnLst/>
            <a:rect r="r" b="b" t="t" l="l"/>
            <a:pathLst>
              <a:path h="1582743" w="7315200">
                <a:moveTo>
                  <a:pt x="0" y="0"/>
                </a:moveTo>
                <a:lnTo>
                  <a:pt x="7315200" y="0"/>
                </a:lnTo>
                <a:lnTo>
                  <a:pt x="7315200" y="1582744"/>
                </a:lnTo>
                <a:lnTo>
                  <a:pt x="0" y="15827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1680783" y="3783681"/>
            <a:ext cx="6949975" cy="6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SCRIPT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360506" y="3621756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392608" y="3037182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19" y="0"/>
                </a:lnTo>
                <a:lnTo>
                  <a:pt x="1019519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164733" y="2766415"/>
            <a:ext cx="2138430" cy="3331831"/>
          </a:xfrm>
          <a:custGeom>
            <a:avLst/>
            <a:gdLst/>
            <a:ahLst/>
            <a:cxnLst/>
            <a:rect r="r" b="b" t="t" l="l"/>
            <a:pathLst>
              <a:path h="3331831" w="2138430">
                <a:moveTo>
                  <a:pt x="0" y="0"/>
                </a:moveTo>
                <a:lnTo>
                  <a:pt x="2138430" y="0"/>
                </a:lnTo>
                <a:lnTo>
                  <a:pt x="2138430" y="3331831"/>
                </a:lnTo>
                <a:lnTo>
                  <a:pt x="0" y="333183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44174" y="5347107"/>
            <a:ext cx="8807986" cy="346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54"/>
              </a:lnSpc>
            </a:pP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------</a:t>
            </a: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-</a:t>
            </a: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-------------========Script========---------------------</a:t>
            </a:r>
          </a:p>
          <a:p>
            <a:pPr algn="just">
              <a:lnSpc>
                <a:spcPts val="1954"/>
              </a:lnSpc>
            </a:pP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Nome= net-hardening.sh</a:t>
            </a:r>
          </a:p>
          <a:p>
            <a:pPr algn="just">
              <a:lnSpc>
                <a:spcPts val="1954"/>
              </a:lnSpc>
            </a:pP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local do arquivo= /usr/local/sbin</a:t>
            </a:r>
          </a:p>
          <a:p>
            <a:pPr algn="just">
              <a:lnSpc>
                <a:spcPts val="1954"/>
              </a:lnSpc>
            </a:pPr>
          </a:p>
          <a:p>
            <a:pPr algn="just">
              <a:lnSpc>
                <a:spcPts val="1954"/>
              </a:lnSpc>
            </a:pP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Hardening de Rede = Fortalecer a segurança de uma infraestrutura de rede para reduzir riscos e dificultar ataques cibernéticos.</a:t>
            </a:r>
          </a:p>
          <a:p>
            <a:pPr algn="just">
              <a:lnSpc>
                <a:spcPts val="1954"/>
              </a:lnSpc>
            </a:pPr>
          </a:p>
          <a:p>
            <a:pPr algn="just">
              <a:lnSpc>
                <a:spcPts val="1954"/>
              </a:lnSpc>
            </a:pP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Firewalld = Ferramenta de gerenciamento de firewall dinâmica usada em sistemas Linux para controlar o tráfego de dados de entrada e saída.</a:t>
            </a:r>
          </a:p>
          <a:p>
            <a:pPr algn="just">
              <a:lnSpc>
                <a:spcPts val="1954"/>
              </a:lnSpc>
            </a:pPr>
          </a:p>
          <a:p>
            <a:pPr algn="just">
              <a:lnSpc>
                <a:spcPts val="1954"/>
              </a:lnSpc>
            </a:pPr>
          </a:p>
          <a:p>
            <a:pPr algn="just">
              <a:lnSpc>
                <a:spcPts val="1954"/>
              </a:lnSpc>
            </a:pP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*Use esse comando abaixo para se informar sobre os parâmetros do script:</a:t>
            </a:r>
          </a:p>
          <a:p>
            <a:pPr algn="just">
              <a:lnSpc>
                <a:spcPts val="1954"/>
              </a:lnSpc>
            </a:pP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sudo /usr/local/sbin/net-hardening.sh -h</a:t>
            </a:r>
          </a:p>
          <a:p>
            <a:pPr algn="just">
              <a:lnSpc>
                <a:spcPts val="1954"/>
              </a:lnSpc>
            </a:pP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================================================================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FIAP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15085" y="6088721"/>
            <a:ext cx="4152054" cy="247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54"/>
              </a:lnSpc>
            </a:pPr>
          </a:p>
          <a:p>
            <a:pPr algn="just">
              <a:lnSpc>
                <a:spcPts val="1954"/>
              </a:lnSpc>
            </a:pP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---========Evidencias========---</a:t>
            </a:r>
          </a:p>
          <a:p>
            <a:pPr algn="just">
              <a:lnSpc>
                <a:spcPts val="1954"/>
              </a:lnSpc>
            </a:pP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ShellCheck → sem erros</a:t>
            </a:r>
          </a:p>
          <a:p>
            <a:pPr algn="just">
              <a:lnSpc>
                <a:spcPts val="1954"/>
              </a:lnSpc>
            </a:pP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bash -n → OK</a:t>
            </a:r>
          </a:p>
          <a:p>
            <a:pPr algn="just">
              <a:lnSpc>
                <a:spcPts val="1954"/>
              </a:lnSpc>
            </a:pP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--dry-run → có</a:t>
            </a: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digo 0</a:t>
            </a:r>
          </a:p>
          <a:p>
            <a:pPr algn="just">
              <a:lnSpc>
                <a:spcPts val="1954"/>
              </a:lnSpc>
            </a:pP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execução real → código 0</a:t>
            </a:r>
          </a:p>
          <a:p>
            <a:pPr algn="just">
              <a:lnSpc>
                <a:spcPts val="1954"/>
              </a:lnSpc>
            </a:pP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--restore → código 0</a:t>
            </a:r>
          </a:p>
          <a:p>
            <a:pPr algn="just">
              <a:lnSpc>
                <a:spcPts val="1954"/>
              </a:lnSpc>
            </a:pP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SSH port:2222 → preservado</a:t>
            </a:r>
          </a:p>
          <a:p>
            <a:pPr algn="just">
              <a:lnSpc>
                <a:spcPts val="1954"/>
              </a:lnSpc>
            </a:pPr>
            <a:r>
              <a:rPr lang="en-US" sz="156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================================</a:t>
            </a:r>
          </a:p>
          <a:p>
            <a:pPr algn="just">
              <a:lnSpc>
                <a:spcPts val="1954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65719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899559" y="6069587"/>
            <a:ext cx="6752249" cy="1866076"/>
          </a:xfrm>
          <a:custGeom>
            <a:avLst/>
            <a:gdLst/>
            <a:ahLst/>
            <a:cxnLst/>
            <a:rect r="r" b="b" t="t" l="l"/>
            <a:pathLst>
              <a:path h="1866076" w="6752249">
                <a:moveTo>
                  <a:pt x="0" y="0"/>
                </a:moveTo>
                <a:lnTo>
                  <a:pt x="6752249" y="0"/>
                </a:lnTo>
                <a:lnTo>
                  <a:pt x="6752249" y="1866076"/>
                </a:lnTo>
                <a:lnTo>
                  <a:pt x="0" y="18660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3889009" y="6786372"/>
            <a:ext cx="6773350" cy="584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b="true" sz="4892" spc="-16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PERGUNTAS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736693" y="7122408"/>
            <a:ext cx="1224507" cy="1188885"/>
          </a:xfrm>
          <a:custGeom>
            <a:avLst/>
            <a:gdLst/>
            <a:ahLst/>
            <a:cxnLst/>
            <a:rect r="r" b="b" t="t" l="l"/>
            <a:pathLst>
              <a:path h="1188885" w="1224507">
                <a:moveTo>
                  <a:pt x="0" y="0"/>
                </a:moveTo>
                <a:lnTo>
                  <a:pt x="1224507" y="0"/>
                </a:lnTo>
                <a:lnTo>
                  <a:pt x="1224507" y="1188885"/>
                </a:lnTo>
                <a:lnTo>
                  <a:pt x="0" y="11888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821339" y="3683328"/>
            <a:ext cx="3452391" cy="3452391"/>
          </a:xfrm>
          <a:custGeom>
            <a:avLst/>
            <a:gdLst/>
            <a:ahLst/>
            <a:cxnLst/>
            <a:rect r="r" b="b" t="t" l="l"/>
            <a:pathLst>
              <a:path h="3452391" w="3452391">
                <a:moveTo>
                  <a:pt x="0" y="0"/>
                </a:moveTo>
                <a:lnTo>
                  <a:pt x="3452390" y="0"/>
                </a:lnTo>
                <a:lnTo>
                  <a:pt x="3452390" y="3452391"/>
                </a:lnTo>
                <a:lnTo>
                  <a:pt x="0" y="34523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FIAP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04261" y="3664278"/>
            <a:ext cx="11476005" cy="67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3951" indent="-231975" lvl="1">
              <a:lnSpc>
                <a:spcPts val="2686"/>
              </a:lnSpc>
              <a:buAutoNum type="arabicPeriod" startAt="1"/>
            </a:pPr>
            <a:r>
              <a:rPr lang="en-US" sz="21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PERGUNTA: Qual é a relação do Oracle Linux com o RHEL?</a:t>
            </a:r>
          </a:p>
          <a:p>
            <a:pPr algn="l" marL="463951" indent="-231975" lvl="1">
              <a:lnSpc>
                <a:spcPts val="2686"/>
              </a:lnSpc>
              <a:buAutoNum type="arabicPeriod" startAt="1"/>
            </a:pPr>
            <a:r>
              <a:rPr lang="en-US" sz="21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PERGUNTA: Qual é sua principal vantagem do Ksplice ?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65719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1505575" y="6149463"/>
            <a:ext cx="5623516" cy="1554135"/>
          </a:xfrm>
          <a:custGeom>
            <a:avLst/>
            <a:gdLst/>
            <a:ahLst/>
            <a:cxnLst/>
            <a:rect r="r" b="b" t="t" l="l"/>
            <a:pathLst>
              <a:path h="1554135" w="5623516">
                <a:moveTo>
                  <a:pt x="0" y="0"/>
                </a:moveTo>
                <a:lnTo>
                  <a:pt x="5623516" y="0"/>
                </a:lnTo>
                <a:lnTo>
                  <a:pt x="5623516" y="1554136"/>
                </a:lnTo>
                <a:lnTo>
                  <a:pt x="0" y="15541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10901369" y="6710277"/>
            <a:ext cx="6773350" cy="584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b="true" sz="4892" spc="-16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PERGUNTAS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729122" y="2616073"/>
            <a:ext cx="3452391" cy="3452391"/>
          </a:xfrm>
          <a:custGeom>
            <a:avLst/>
            <a:gdLst/>
            <a:ahLst/>
            <a:cxnLst/>
            <a:rect r="r" b="b" t="t" l="l"/>
            <a:pathLst>
              <a:path h="3452391" w="3452391">
                <a:moveTo>
                  <a:pt x="0" y="0"/>
                </a:moveTo>
                <a:lnTo>
                  <a:pt x="3452391" y="0"/>
                </a:lnTo>
                <a:lnTo>
                  <a:pt x="3452391" y="3452391"/>
                </a:lnTo>
                <a:lnTo>
                  <a:pt x="0" y="34523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61201" y="2538366"/>
            <a:ext cx="9875974" cy="2053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6832" indent="-203416" lvl="1">
              <a:lnSpc>
                <a:spcPts val="2355"/>
              </a:lnSpc>
              <a:buAutoNum type="arabicPeriod" startAt="1"/>
            </a:pPr>
            <a:r>
              <a:rPr lang="en-US" sz="1884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PERGUNTA:Quais são os dois kernels disponíveis no Oracle Linux?</a:t>
            </a:r>
          </a:p>
          <a:p>
            <a:pPr algn="l">
              <a:lnSpc>
                <a:spcPts val="2355"/>
              </a:lnSpc>
            </a:pPr>
            <a:r>
              <a:rPr lang="en-US" sz="1884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A) UEK e RHCK</a:t>
            </a:r>
          </a:p>
          <a:p>
            <a:pPr algn="l">
              <a:lnSpc>
                <a:spcPts val="2355"/>
              </a:lnSpc>
            </a:pPr>
            <a:r>
              <a:rPr lang="en-US" sz="1884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B) SELinux e LUKS</a:t>
            </a:r>
          </a:p>
          <a:p>
            <a:pPr algn="l">
              <a:lnSpc>
                <a:spcPts val="2355"/>
              </a:lnSpc>
            </a:pPr>
            <a:r>
              <a:rPr lang="en-US" sz="1884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C) RPM e DNF</a:t>
            </a:r>
          </a:p>
          <a:p>
            <a:pPr algn="l">
              <a:lnSpc>
                <a:spcPts val="2355"/>
              </a:lnSpc>
            </a:pPr>
            <a:r>
              <a:rPr lang="en-US" sz="1884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D) Ksplice e Kpatch</a:t>
            </a:r>
          </a:p>
          <a:p>
            <a:pPr algn="l">
              <a:lnSpc>
                <a:spcPts val="2355"/>
              </a:lnSpc>
            </a:pPr>
          </a:p>
          <a:p>
            <a:pPr algn="l">
              <a:lnSpc>
                <a:spcPts val="2355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FIAP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44174" y="4461898"/>
            <a:ext cx="10346239" cy="176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6832" indent="-203416" lvl="1">
              <a:lnSpc>
                <a:spcPts val="2355"/>
              </a:lnSpc>
              <a:buAutoNum type="arabicPeriod" startAt="1"/>
            </a:pPr>
            <a:r>
              <a:rPr lang="en-US" sz="1884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Sobre o licenciamento do Oracle Linux, qual alternativa está correta?</a:t>
            </a:r>
          </a:p>
          <a:p>
            <a:pPr algn="l">
              <a:lnSpc>
                <a:spcPts val="2355"/>
              </a:lnSpc>
            </a:pPr>
            <a:r>
              <a:rPr lang="en-US" sz="1884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A) O sistema operacional só pode ser usado mediante pagamento.</a:t>
            </a:r>
          </a:p>
          <a:p>
            <a:pPr algn="l">
              <a:lnSpc>
                <a:spcPts val="2355"/>
              </a:lnSpc>
            </a:pPr>
            <a:r>
              <a:rPr lang="en-US" sz="1884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B) O Oracle Linux pode ser baixado e usado gratuitamente, mas o suporte Oracle é pago.</a:t>
            </a:r>
          </a:p>
          <a:p>
            <a:pPr algn="l">
              <a:lnSpc>
                <a:spcPts val="2355"/>
              </a:lnSpc>
            </a:pPr>
            <a:r>
              <a:rPr lang="en-US" sz="1884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C) O código-fonte do Oracle Linux é totalmente fechado.</a:t>
            </a:r>
          </a:p>
          <a:p>
            <a:pPr algn="l">
              <a:lnSpc>
                <a:spcPts val="2355"/>
              </a:lnSpc>
            </a:pPr>
            <a:r>
              <a:rPr lang="en-US" sz="1884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D) As atualizações só podem ser obtidas com uma assinatura.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4174" y="6813536"/>
            <a:ext cx="10346239" cy="176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5"/>
              </a:lnSpc>
            </a:pPr>
            <a:r>
              <a:rPr lang="en-US" sz="1884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3.Qual é a principal função do Firewalld no Oracle Linux?</a:t>
            </a:r>
          </a:p>
          <a:p>
            <a:pPr algn="l">
              <a:lnSpc>
                <a:spcPts val="2355"/>
              </a:lnSpc>
            </a:pPr>
            <a:r>
              <a:rPr lang="en-US" sz="1884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A) Gerenciar o tráfego de dados de entrada e saída.</a:t>
            </a:r>
          </a:p>
          <a:p>
            <a:pPr algn="l">
              <a:lnSpc>
                <a:spcPts val="2355"/>
              </a:lnSpc>
            </a:pPr>
            <a:r>
              <a:rPr lang="en-US" sz="1884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B) Atualizar o kernel automaticamente.</a:t>
            </a:r>
          </a:p>
          <a:p>
            <a:pPr algn="l">
              <a:lnSpc>
                <a:spcPts val="2355"/>
              </a:lnSpc>
            </a:pPr>
            <a:r>
              <a:rPr lang="en-US" sz="1884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C) Criptografar os arquivos do sistema.</a:t>
            </a:r>
          </a:p>
          <a:p>
            <a:pPr algn="l">
              <a:lnSpc>
                <a:spcPts val="2355"/>
              </a:lnSpc>
            </a:pPr>
            <a:r>
              <a:rPr lang="en-US" sz="1884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D) Gerenciar os usuários do sistema.</a:t>
            </a:r>
          </a:p>
          <a:p>
            <a:pPr algn="l">
              <a:lnSpc>
                <a:spcPts val="2355"/>
              </a:lnSpc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4174" y="2357391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65719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202299">
            <a:off x="13286397" y="3661092"/>
            <a:ext cx="4317671" cy="3492361"/>
          </a:xfrm>
          <a:custGeom>
            <a:avLst/>
            <a:gdLst/>
            <a:ahLst/>
            <a:cxnLst/>
            <a:rect r="r" b="b" t="t" l="l"/>
            <a:pathLst>
              <a:path h="3492361" w="4317671">
                <a:moveTo>
                  <a:pt x="0" y="0"/>
                </a:moveTo>
                <a:lnTo>
                  <a:pt x="4317671" y="0"/>
                </a:lnTo>
                <a:lnTo>
                  <a:pt x="4317671" y="3492361"/>
                </a:lnTo>
                <a:lnTo>
                  <a:pt x="0" y="34923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259966" y="5196157"/>
            <a:ext cx="5623516" cy="1554135"/>
          </a:xfrm>
          <a:custGeom>
            <a:avLst/>
            <a:gdLst/>
            <a:ahLst/>
            <a:cxnLst/>
            <a:rect r="r" b="b" t="t" l="l"/>
            <a:pathLst>
              <a:path h="1554135" w="5623516">
                <a:moveTo>
                  <a:pt x="0" y="0"/>
                </a:moveTo>
                <a:lnTo>
                  <a:pt x="5623516" y="0"/>
                </a:lnTo>
                <a:lnTo>
                  <a:pt x="5623516" y="1554136"/>
                </a:lnTo>
                <a:lnTo>
                  <a:pt x="0" y="155413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10485950" y="5688243"/>
            <a:ext cx="6773350" cy="584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b="true" sz="4892" spc="-16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GABARITO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45145" y="6619712"/>
            <a:ext cx="1099786" cy="447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590" indent="-304295" lvl="1">
              <a:lnSpc>
                <a:spcPts val="3523"/>
              </a:lnSpc>
              <a:buAutoNum type="arabicPeriod" startAt="1"/>
            </a:pPr>
            <a:r>
              <a:rPr lang="en-US" sz="281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FIAP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5145" y="7039119"/>
            <a:ext cx="1099786" cy="447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590" indent="-304295" lvl="1">
              <a:lnSpc>
                <a:spcPts val="3523"/>
              </a:lnSpc>
              <a:buAutoNum type="arabicPeriod" startAt="1"/>
            </a:pPr>
            <a:r>
              <a:rPr lang="en-US" sz="281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B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45145" y="7458525"/>
            <a:ext cx="1099786" cy="447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590" indent="-304295" lvl="1">
              <a:lnSpc>
                <a:spcPts val="3523"/>
              </a:lnSpc>
              <a:buAutoNum type="arabicPeriod" startAt="1"/>
            </a:pPr>
            <a:r>
              <a:rPr lang="en-US" sz="281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64083" y="3350879"/>
            <a:ext cx="8947341" cy="88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590" indent="-304295" lvl="1">
              <a:lnSpc>
                <a:spcPts val="3523"/>
              </a:lnSpc>
              <a:buAutoNum type="arabicPeriod" startAt="1"/>
            </a:pPr>
            <a:r>
              <a:rPr lang="en-US" sz="281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 Oracle Linux mantém compatibilidade binária com aplicações RHEL.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5517" y="4832456"/>
            <a:ext cx="8947341" cy="88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590" indent="-304295" lvl="1">
              <a:lnSpc>
                <a:spcPts val="3523"/>
              </a:lnSpc>
              <a:buAutoNum type="arabicPeriod" startAt="1"/>
            </a:pPr>
            <a:r>
              <a:rPr lang="en-US" sz="281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Aplicar atualizações de kernel sem interromper serviços do sistema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-476730">
            <a:off x="10767776" y="5983422"/>
            <a:ext cx="1224507" cy="1188885"/>
          </a:xfrm>
          <a:custGeom>
            <a:avLst/>
            <a:gdLst/>
            <a:ahLst/>
            <a:cxnLst/>
            <a:rect r="r" b="b" t="t" l="l"/>
            <a:pathLst>
              <a:path h="1188885" w="1224507">
                <a:moveTo>
                  <a:pt x="0" y="0"/>
                </a:moveTo>
                <a:lnTo>
                  <a:pt x="1224507" y="0"/>
                </a:lnTo>
                <a:lnTo>
                  <a:pt x="1224507" y="1188885"/>
                </a:lnTo>
                <a:lnTo>
                  <a:pt x="0" y="11888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88605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699188" y="7374219"/>
            <a:ext cx="2558783" cy="553628"/>
          </a:xfrm>
          <a:custGeom>
            <a:avLst/>
            <a:gdLst/>
            <a:ahLst/>
            <a:cxnLst/>
            <a:rect r="r" b="b" t="t" l="l"/>
            <a:pathLst>
              <a:path h="553628" w="2558783">
                <a:moveTo>
                  <a:pt x="0" y="0"/>
                </a:moveTo>
                <a:lnTo>
                  <a:pt x="2558783" y="0"/>
                </a:lnTo>
                <a:lnTo>
                  <a:pt x="2558783" y="553628"/>
                </a:lnTo>
                <a:lnTo>
                  <a:pt x="0" y="553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3755151" y="4375855"/>
            <a:ext cx="10777699" cy="179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99"/>
              </a:lnSpc>
            </a:pPr>
            <a:r>
              <a:rPr lang="en-US" b="true" sz="13499" spc="-458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OBRIGADO!:)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FIAP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Contact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603067" y="7527005"/>
            <a:ext cx="2751025" cy="22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5"/>
              </a:lnSpc>
            </a:pPr>
            <a:r>
              <a:rPr lang="en-US" sz="14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INICIO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9212337" y="7374219"/>
            <a:ext cx="2558783" cy="553628"/>
          </a:xfrm>
          <a:custGeom>
            <a:avLst/>
            <a:gdLst/>
            <a:ahLst/>
            <a:cxnLst/>
            <a:rect r="r" b="b" t="t" l="l"/>
            <a:pathLst>
              <a:path h="553628" w="2558783">
                <a:moveTo>
                  <a:pt x="0" y="0"/>
                </a:moveTo>
                <a:lnTo>
                  <a:pt x="2558784" y="0"/>
                </a:lnTo>
                <a:lnTo>
                  <a:pt x="2558784" y="553628"/>
                </a:lnTo>
                <a:lnTo>
                  <a:pt x="0" y="553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3" id="33"/>
          <p:cNvSpPr txBox="true"/>
          <p:nvPr/>
        </p:nvSpPr>
        <p:spPr>
          <a:xfrm rot="0">
            <a:off x="9144000" y="7527005"/>
            <a:ext cx="2751025" cy="22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5"/>
              </a:lnSpc>
            </a:pPr>
            <a:r>
              <a:rPr lang="en-US" sz="14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FECHAR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2917337" y="7546055"/>
            <a:ext cx="523211" cy="890917"/>
          </a:xfrm>
          <a:custGeom>
            <a:avLst/>
            <a:gdLst/>
            <a:ahLst/>
            <a:cxnLst/>
            <a:rect r="r" b="b" t="t" l="l"/>
            <a:pathLst>
              <a:path h="890917" w="523211">
                <a:moveTo>
                  <a:pt x="0" y="0"/>
                </a:moveTo>
                <a:lnTo>
                  <a:pt x="523211" y="0"/>
                </a:lnTo>
                <a:lnTo>
                  <a:pt x="523211" y="890917"/>
                </a:lnTo>
                <a:lnTo>
                  <a:pt x="0" y="890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DAHVNSIPMBA</dc:identifier>
  <dcterms:modified xsi:type="dcterms:W3CDTF">2011-08-01T06:04:30Z</dcterms:modified>
  <cp:revision>1</cp:revision>
  <dc:title>Oracle Linux</dc:title>
</cp:coreProperties>
</file>